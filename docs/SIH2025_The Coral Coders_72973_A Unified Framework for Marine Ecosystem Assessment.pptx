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wmfEoNgnrTP4rGlf/PNzS61TO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468b37e79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0" name="Google Shape;140;g38468b37e7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8468b37e79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0f8c4f1ed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8" name="Google Shape;178;g380f8c4f1ed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80f8c4f1ed_1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3" Type="http://schemas.openxmlformats.org/officeDocument/2006/relationships/image" Target="../media/image12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9" Type="http://schemas.openxmlformats.org/officeDocument/2006/relationships/image" Target="../media/image11.png"/><Relationship Id="rId15" Type="http://schemas.openxmlformats.org/officeDocument/2006/relationships/image" Target="../media/image20.png"/><Relationship Id="rId14" Type="http://schemas.openxmlformats.org/officeDocument/2006/relationships/image" Target="../media/image1.png"/><Relationship Id="rId17" Type="http://schemas.openxmlformats.org/officeDocument/2006/relationships/image" Target="../media/image14.png"/><Relationship Id="rId16" Type="http://schemas.openxmlformats.org/officeDocument/2006/relationships/image" Target="../media/image10.png"/><Relationship Id="rId5" Type="http://schemas.openxmlformats.org/officeDocument/2006/relationships/image" Target="../media/image7.png"/><Relationship Id="rId19" Type="http://schemas.openxmlformats.org/officeDocument/2006/relationships/image" Target="../media/image18.png"/><Relationship Id="rId6" Type="http://schemas.openxmlformats.org/officeDocument/2006/relationships/image" Target="../media/image27.png"/><Relationship Id="rId18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mlre.gov.in/" TargetMode="External"/><Relationship Id="rId4" Type="http://schemas.openxmlformats.org/officeDocument/2006/relationships/hyperlink" Target="https://indobis.in/" TargetMode="External"/><Relationship Id="rId9" Type="http://schemas.openxmlformats.org/officeDocument/2006/relationships/hyperlink" Target="https://www.iso.org/standards.html" TargetMode="External"/><Relationship Id="rId5" Type="http://schemas.openxmlformats.org/officeDocument/2006/relationships/hyperlink" Target="https://www.ncbi.nlm.nih.gov/sra/?term=eDNA" TargetMode="External"/><Relationship Id="rId6" Type="http://schemas.openxmlformats.org/officeDocument/2006/relationships/hyperlink" Target="https://cds.climate.copernicus.eu/datasets" TargetMode="External"/><Relationship Id="rId7" Type="http://schemas.openxmlformats.org/officeDocument/2006/relationships/hyperlink" Target="https://github.com/tdwg/dwc" TargetMode="External"/><Relationship Id="rId8" Type="http://schemas.openxmlformats.org/officeDocument/2006/relationships/hyperlink" Target="https://dwc.tdwg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7222109" y="1252990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50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511879" y="1974384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type="ctrTitle"/>
          </p:nvPr>
        </p:nvSpPr>
        <p:spPr>
          <a:xfrm>
            <a:off x="331286" y="-5267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41513" y="1129165"/>
            <a:ext cx="7326000" cy="5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4025" lvl="0" marL="5429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SIH25041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5429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AI-Driven Unified Data Platform for Oceanographic, Fisheries and molecular biodiversity Insights.</a:t>
            </a:r>
            <a:endParaRPr sz="2800"/>
          </a:p>
          <a:p>
            <a:pPr indent="-454025" lvl="0" marL="5429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–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Renewable / Sustainable</a:t>
            </a: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Energy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5429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 -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5429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r>
              <a:rPr b="1" lang="en-US" sz="2800">
                <a:solidFill>
                  <a:schemeClr val="dk1"/>
                </a:solidFill>
              </a:rPr>
              <a:t>72973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4025" lvl="0" marL="54292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-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Coral Coders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www.sih.gov.in/img1/SIH-Logo.pn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1522575" y="0"/>
            <a:ext cx="867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500">
                <a:latin typeface="Times New Roman"/>
                <a:ea typeface="Times New Roman"/>
                <a:cs typeface="Times New Roman"/>
                <a:sym typeface="Times New Roman"/>
              </a:rPr>
              <a:t>A Unified Framework for Marine Ecosystem Assessment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7425664" y="6301476"/>
            <a:ext cx="2178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descr="https://www.sih.gov.in/img1/SIH-Logo.png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/>
        </p:nvSpPr>
        <p:spPr>
          <a:xfrm>
            <a:off x="409875" y="3131825"/>
            <a:ext cx="5583000" cy="3407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Key Features :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Breaks Down Data Silos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Merges ocean, fish, DNA, and morphology data into a </a:t>
            </a:r>
            <a:r>
              <a:rPr b="1" lang="en-US">
                <a:solidFill>
                  <a:schemeClr val="dk1"/>
                </a:solidFill>
              </a:rPr>
              <a:t>unified system</a:t>
            </a:r>
            <a:r>
              <a:rPr lang="en-US">
                <a:solidFill>
                  <a:schemeClr val="dk1"/>
                </a:solidFill>
              </a:rPr>
              <a:t> for </a:t>
            </a:r>
            <a:r>
              <a:rPr b="1" lang="en-US">
                <a:solidFill>
                  <a:schemeClr val="dk1"/>
                </a:solidFill>
              </a:rPr>
              <a:t>cross-disciplinary insights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Automated Data Pipelines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Modular pipelines </a:t>
            </a:r>
            <a:r>
              <a:rPr b="1" lang="en-US">
                <a:solidFill>
                  <a:schemeClr val="dk1"/>
                </a:solidFill>
              </a:rPr>
              <a:t>auto-ingest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standardize</a:t>
            </a:r>
            <a:r>
              <a:rPr lang="en-US">
                <a:solidFill>
                  <a:schemeClr val="dk1"/>
                </a:solidFill>
              </a:rPr>
              <a:t>, and </a:t>
            </a:r>
            <a:r>
              <a:rPr b="1" lang="en-US">
                <a:solidFill>
                  <a:schemeClr val="dk1"/>
                </a:solidFill>
              </a:rPr>
              <a:t>tag data</a:t>
            </a:r>
            <a:r>
              <a:rPr lang="en-US">
                <a:solidFill>
                  <a:schemeClr val="dk1"/>
                </a:solidFill>
              </a:rPr>
              <a:t> to ensure quality and speed.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AI-Powered Insights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Predicts fish stock trends and finds </a:t>
            </a:r>
            <a:r>
              <a:rPr b="1" lang="en-US">
                <a:solidFill>
                  <a:schemeClr val="dk1"/>
                </a:solidFill>
              </a:rPr>
              <a:t>ecosystem-biodiversity correlations</a:t>
            </a:r>
            <a:r>
              <a:rPr lang="en-US">
                <a:solidFill>
                  <a:schemeClr val="dk1"/>
                </a:solidFill>
              </a:rPr>
              <a:t> for conservation.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US">
                <a:solidFill>
                  <a:schemeClr val="dk1"/>
                </a:solidFill>
              </a:rPr>
              <a:t>Specialized Modules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Interactive </a:t>
            </a:r>
            <a:r>
              <a:rPr b="1" lang="en-US">
                <a:solidFill>
                  <a:schemeClr val="dk1"/>
                </a:solidFill>
              </a:rPr>
              <a:t>otolith study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taxonomy classification</a:t>
            </a:r>
            <a:r>
              <a:rPr lang="en-US">
                <a:solidFill>
                  <a:schemeClr val="dk1"/>
                </a:solidFill>
              </a:rPr>
              <a:t>, </a:t>
            </a:r>
            <a:r>
              <a:rPr b="1" lang="en-US">
                <a:solidFill>
                  <a:schemeClr val="dk1"/>
                </a:solidFill>
              </a:rPr>
              <a:t>fast species ID</a:t>
            </a:r>
            <a:r>
              <a:rPr lang="en-US">
                <a:solidFill>
                  <a:schemeClr val="dk1"/>
                </a:solidFill>
              </a:rPr>
              <a:t>, and </a:t>
            </a:r>
            <a:r>
              <a:rPr b="1" lang="en-US">
                <a:solidFill>
                  <a:schemeClr val="dk1"/>
                </a:solidFill>
              </a:rPr>
              <a:t>eDNA-based biodiversity mapping</a:t>
            </a:r>
            <a:r>
              <a:rPr lang="en-US">
                <a:solidFill>
                  <a:schemeClr val="dk1"/>
                </a:solidFill>
              </a:rPr>
              <a:t>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09875" y="1351325"/>
            <a:ext cx="5583000" cy="1780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chemeClr val="dk1"/>
                </a:solidFill>
              </a:rPr>
              <a:t>Solution</a:t>
            </a:r>
            <a:r>
              <a:rPr lang="en-US" sz="2400">
                <a:solidFill>
                  <a:schemeClr val="dk1"/>
                </a:solidFill>
              </a:rPr>
              <a:t> :</a:t>
            </a:r>
            <a:r>
              <a:rPr i="0" lang="en-US" sz="2700" u="none" cap="none" strike="noStrike">
                <a:solidFill>
                  <a:schemeClr val="dk1"/>
                </a:solidFill>
              </a:rPr>
              <a:t> </a:t>
            </a:r>
            <a:endParaRPr i="0" sz="2700" u="none" cap="none" strike="noStrike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0" lang="en-US" u="none" cap="none" strike="noStrike">
                <a:solidFill>
                  <a:srgbClr val="1B1C1D"/>
                </a:solidFill>
              </a:rPr>
              <a:t>An </a:t>
            </a:r>
            <a:r>
              <a:rPr b="1" i="0" lang="en-US" u="none" cap="none" strike="noStrike">
                <a:solidFill>
                  <a:schemeClr val="dk1"/>
                </a:solidFill>
              </a:rPr>
              <a:t>AI-driven</a:t>
            </a:r>
            <a:r>
              <a:rPr i="0" lang="en-US" u="none" cap="none" strike="noStrike">
                <a:solidFill>
                  <a:srgbClr val="1B1C1D"/>
                </a:solidFill>
              </a:rPr>
              <a:t> unified data platform that integrates heterogeneous oceanographic, fisheries, and molecular data to enable </a:t>
            </a:r>
            <a:r>
              <a:rPr b="1" i="0" lang="en-US" u="none" cap="none" strike="noStrike">
                <a:solidFill>
                  <a:srgbClr val="1B1C1D"/>
                </a:solidFill>
              </a:rPr>
              <a:t>cross-disciplinary </a:t>
            </a:r>
            <a:r>
              <a:rPr b="1" i="0" lang="en-US" u="none" cap="none" strike="noStrike">
                <a:solidFill>
                  <a:schemeClr val="dk1"/>
                </a:solidFill>
              </a:rPr>
              <a:t>analysis</a:t>
            </a:r>
            <a:r>
              <a:rPr i="0" lang="en-US" u="none" cap="none" strike="noStrike">
                <a:solidFill>
                  <a:srgbClr val="1B1C1D"/>
                </a:solidFill>
              </a:rPr>
              <a:t> and enhance </a:t>
            </a:r>
            <a:r>
              <a:rPr b="1" i="0" lang="en-US" u="none" cap="none" strike="noStrike">
                <a:solidFill>
                  <a:schemeClr val="dk1"/>
                </a:solidFill>
              </a:rPr>
              <a:t>real-time</a:t>
            </a:r>
            <a:r>
              <a:rPr b="1" i="0" lang="en-US" u="none" cap="none" strike="noStrike">
                <a:solidFill>
                  <a:srgbClr val="1B1C1D"/>
                </a:solidFill>
              </a:rPr>
              <a:t> </a:t>
            </a:r>
            <a:r>
              <a:rPr b="1" i="0" lang="en-US" u="none" cap="none" strike="noStrike">
                <a:solidFill>
                  <a:schemeClr val="dk1"/>
                </a:solidFill>
              </a:rPr>
              <a:t>decision-making</a:t>
            </a:r>
            <a:r>
              <a:rPr i="0" lang="en-US" u="none" cap="none" strike="noStrike">
                <a:solidFill>
                  <a:srgbClr val="1B1C1D"/>
                </a:solidFill>
              </a:rPr>
              <a:t> for sustainable marine ecosystem management.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152400" y="99088"/>
            <a:ext cx="1796400" cy="103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CORAL CODERS</a:t>
            </a:r>
            <a:endParaRPr b="1"/>
          </a:p>
        </p:txBody>
      </p:sp>
      <p:sp>
        <p:nvSpPr>
          <p:cNvPr id="104" name="Google Shape;104;p2"/>
          <p:cNvSpPr txBox="1"/>
          <p:nvPr/>
        </p:nvSpPr>
        <p:spPr>
          <a:xfrm>
            <a:off x="5992875" y="1351325"/>
            <a:ext cx="2834700" cy="5187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Flowchart :</a:t>
            </a:r>
            <a:endParaRPr b="1" sz="1600">
              <a:solidFill>
                <a:schemeClr val="dk1"/>
              </a:solidFill>
            </a:endParaRPr>
          </a:p>
        </p:txBody>
      </p:sp>
      <p:cxnSp>
        <p:nvCxnSpPr>
          <p:cNvPr id="105" name="Google Shape;105;p2"/>
          <p:cNvCxnSpPr>
            <a:stCxn id="106" idx="2"/>
            <a:endCxn id="107" idx="0"/>
          </p:cNvCxnSpPr>
          <p:nvPr/>
        </p:nvCxnSpPr>
        <p:spPr>
          <a:xfrm flipH="1">
            <a:off x="6690080" y="2655030"/>
            <a:ext cx="588600" cy="37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2"/>
          <p:cNvCxnSpPr>
            <a:stCxn id="109" idx="2"/>
            <a:endCxn id="107" idx="0"/>
          </p:cNvCxnSpPr>
          <p:nvPr/>
        </p:nvCxnSpPr>
        <p:spPr>
          <a:xfrm>
            <a:off x="6529279" y="2681585"/>
            <a:ext cx="1608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9" name="Google Shape;10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261" y="2057370"/>
            <a:ext cx="478036" cy="624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5252" y="2045416"/>
            <a:ext cx="466855" cy="60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8493" y="2106217"/>
            <a:ext cx="440127" cy="487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56609" y="3029976"/>
            <a:ext cx="466855" cy="609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14450" y="3047439"/>
            <a:ext cx="440127" cy="5747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2"/>
          <p:cNvCxnSpPr>
            <a:stCxn id="107" idx="3"/>
            <a:endCxn id="111" idx="1"/>
          </p:cNvCxnSpPr>
          <p:nvPr/>
        </p:nvCxnSpPr>
        <p:spPr>
          <a:xfrm>
            <a:off x="6923465" y="3334783"/>
            <a:ext cx="99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3" name="Google Shape;113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01096" y="4156502"/>
            <a:ext cx="466855" cy="60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23438" y="4122026"/>
            <a:ext cx="333197" cy="43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93583" y="4530110"/>
            <a:ext cx="333197" cy="43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55918" y="4563397"/>
            <a:ext cx="153704" cy="200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6652" y="4466707"/>
            <a:ext cx="373710" cy="487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34340" y="4506411"/>
            <a:ext cx="373710" cy="487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03182" y="5687899"/>
            <a:ext cx="373710" cy="487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413474" y="5592147"/>
            <a:ext cx="553069" cy="722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02609" y="5534719"/>
            <a:ext cx="629290" cy="8217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2"/>
          <p:cNvCxnSpPr>
            <a:endCxn id="107" idx="0"/>
          </p:cNvCxnSpPr>
          <p:nvPr/>
        </p:nvCxnSpPr>
        <p:spPr>
          <a:xfrm flipH="1">
            <a:off x="6690037" y="2614776"/>
            <a:ext cx="1008600" cy="41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"/>
          <p:cNvCxnSpPr>
            <a:stCxn id="111" idx="2"/>
            <a:endCxn id="113" idx="0"/>
          </p:cNvCxnSpPr>
          <p:nvPr/>
        </p:nvCxnSpPr>
        <p:spPr>
          <a:xfrm>
            <a:off x="8134514" y="3622152"/>
            <a:ext cx="0" cy="53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" name="Google Shape;124;p2"/>
          <p:cNvSpPr txBox="1"/>
          <p:nvPr/>
        </p:nvSpPr>
        <p:spPr>
          <a:xfrm>
            <a:off x="7039628" y="1828290"/>
            <a:ext cx="629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Data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5" name="Google Shape;125;p2"/>
          <p:cNvCxnSpPr>
            <a:stCxn id="113" idx="1"/>
          </p:cNvCxnSpPr>
          <p:nvPr/>
        </p:nvCxnSpPr>
        <p:spPr>
          <a:xfrm flipH="1">
            <a:off x="7271696" y="4461321"/>
            <a:ext cx="6294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2"/>
          <p:cNvSpPr txBox="1"/>
          <p:nvPr/>
        </p:nvSpPr>
        <p:spPr>
          <a:xfrm>
            <a:off x="6052898" y="3585664"/>
            <a:ext cx="1572900" cy="365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Automated data pipeline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793900" y="2777596"/>
            <a:ext cx="990900" cy="374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Database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071871" y="4961558"/>
            <a:ext cx="1236300" cy="322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Specialized Modules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7615610" y="4742240"/>
            <a:ext cx="1172100" cy="260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Cloud Infrastructure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30" name="Google Shape;130;p2"/>
          <p:cNvCxnSpPr>
            <a:stCxn id="128" idx="2"/>
            <a:endCxn id="120" idx="0"/>
          </p:cNvCxnSpPr>
          <p:nvPr/>
        </p:nvCxnSpPr>
        <p:spPr>
          <a:xfrm>
            <a:off x="6690021" y="5283758"/>
            <a:ext cx="0" cy="30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"/>
          <p:cNvSpPr txBox="1"/>
          <p:nvPr/>
        </p:nvSpPr>
        <p:spPr>
          <a:xfrm>
            <a:off x="6339223" y="6166025"/>
            <a:ext cx="990900" cy="308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Dashboard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32" name="Google Shape;132;p2"/>
          <p:cNvCxnSpPr>
            <a:stCxn id="120" idx="3"/>
            <a:endCxn id="121" idx="1"/>
          </p:cNvCxnSpPr>
          <p:nvPr/>
        </p:nvCxnSpPr>
        <p:spPr>
          <a:xfrm flipH="1" rot="10800000">
            <a:off x="6966543" y="5945443"/>
            <a:ext cx="836100" cy="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"/>
          <p:cNvSpPr txBox="1"/>
          <p:nvPr/>
        </p:nvSpPr>
        <p:spPr>
          <a:xfrm>
            <a:off x="7755375" y="5246724"/>
            <a:ext cx="1008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End Users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8827575" y="12742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UI/UX Design</a:t>
            </a:r>
            <a:r>
              <a:rPr lang="en-US" sz="2400">
                <a:solidFill>
                  <a:schemeClr val="dk1"/>
                </a:solidFill>
              </a:rPr>
              <a:t> :</a:t>
            </a:r>
            <a:endParaRPr/>
          </a:p>
        </p:txBody>
      </p:sp>
      <p:pic>
        <p:nvPicPr>
          <p:cNvPr id="135" name="Google Shape;135;p2" title="Screenshot 2025-09-29 222843.png"/>
          <p:cNvPicPr preferRelativeResize="0"/>
          <p:nvPr/>
        </p:nvPicPr>
        <p:blipFill rotWithShape="1">
          <a:blip r:embed="rId17">
            <a:alphaModFix/>
          </a:blip>
          <a:srcRect b="0" l="10585" r="13806" t="0"/>
          <a:stretch/>
        </p:blipFill>
        <p:spPr>
          <a:xfrm>
            <a:off x="8880275" y="1739000"/>
            <a:ext cx="3000000" cy="150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" title="Screenshot 2025-09-29 222619.png"/>
          <p:cNvPicPr preferRelativeResize="0"/>
          <p:nvPr/>
        </p:nvPicPr>
        <p:blipFill rotWithShape="1">
          <a:blip r:embed="rId18">
            <a:alphaModFix/>
          </a:blip>
          <a:srcRect b="0" l="13003" r="14226" t="0"/>
          <a:stretch/>
        </p:blipFill>
        <p:spPr>
          <a:xfrm>
            <a:off x="8906625" y="3265725"/>
            <a:ext cx="2947301" cy="167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904375" y="4958450"/>
            <a:ext cx="2947299" cy="15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468b37e79_0_3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44" name="Google Shape;144;g38468b37e79_0_37"/>
          <p:cNvSpPr txBox="1"/>
          <p:nvPr/>
        </p:nvSpPr>
        <p:spPr>
          <a:xfrm>
            <a:off x="304275" y="1345425"/>
            <a:ext cx="343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500">
                <a:solidFill>
                  <a:schemeClr val="dk1"/>
                </a:solidFill>
              </a:rPr>
              <a:t>System Architecture :</a:t>
            </a:r>
            <a:r>
              <a:rPr lang="en-US" sz="2800">
                <a:solidFill>
                  <a:schemeClr val="dk1"/>
                </a:solidFill>
              </a:rPr>
              <a:t> 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8468b37e79_0_3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https://www.sih.gov.in/img1/SIH-Logo.png" id="146" name="Google Shape;146;g38468b37e79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8468b37e79_0_37"/>
          <p:cNvPicPr preferRelativeResize="0"/>
          <p:nvPr/>
        </p:nvPicPr>
        <p:blipFill rotWithShape="1">
          <a:blip r:embed="rId4">
            <a:alphaModFix/>
          </a:blip>
          <a:srcRect b="3032" l="2788" r="54644" t="16107"/>
          <a:stretch/>
        </p:blipFill>
        <p:spPr>
          <a:xfrm>
            <a:off x="4712700" y="1868625"/>
            <a:ext cx="3039299" cy="312075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8468b37e79_0_37"/>
          <p:cNvSpPr/>
          <p:nvPr/>
        </p:nvSpPr>
        <p:spPr>
          <a:xfrm>
            <a:off x="152400" y="99088"/>
            <a:ext cx="1796400" cy="103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CORAL CODERS</a:t>
            </a:r>
            <a:endParaRPr b="1"/>
          </a:p>
        </p:txBody>
      </p:sp>
      <p:cxnSp>
        <p:nvCxnSpPr>
          <p:cNvPr id="149" name="Google Shape;149;g38468b37e79_0_37"/>
          <p:cNvCxnSpPr/>
          <p:nvPr/>
        </p:nvCxnSpPr>
        <p:spPr>
          <a:xfrm rot="10800000">
            <a:off x="4712688" y="1904388"/>
            <a:ext cx="0" cy="468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g38468b37e79_0_37"/>
          <p:cNvSpPr txBox="1"/>
          <p:nvPr/>
        </p:nvSpPr>
        <p:spPr>
          <a:xfrm>
            <a:off x="5213175" y="1345425"/>
            <a:ext cx="3039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Technical Stack :</a:t>
            </a:r>
            <a:endParaRPr sz="2500">
              <a:solidFill>
                <a:schemeClr val="dk1"/>
              </a:solidFill>
            </a:endParaRPr>
          </a:p>
        </p:txBody>
      </p:sp>
      <p:cxnSp>
        <p:nvCxnSpPr>
          <p:cNvPr id="151" name="Google Shape;151;g38468b37e79_0_37"/>
          <p:cNvCxnSpPr/>
          <p:nvPr/>
        </p:nvCxnSpPr>
        <p:spPr>
          <a:xfrm rot="10800000">
            <a:off x="7812650" y="1904388"/>
            <a:ext cx="0" cy="468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" name="Google Shape;152;g38468b37e79_0_37"/>
          <p:cNvCxnSpPr/>
          <p:nvPr/>
        </p:nvCxnSpPr>
        <p:spPr>
          <a:xfrm rot="10800000">
            <a:off x="4717775" y="4991600"/>
            <a:ext cx="3094800" cy="1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g38468b37e79_0_37"/>
          <p:cNvSpPr txBox="1"/>
          <p:nvPr/>
        </p:nvSpPr>
        <p:spPr>
          <a:xfrm>
            <a:off x="4712700" y="4957050"/>
            <a:ext cx="28449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</a:rPr>
              <a:t>Methodology :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154" name="Google Shape;154;g38468b37e79_0_37"/>
          <p:cNvSpPr txBox="1"/>
          <p:nvPr/>
        </p:nvSpPr>
        <p:spPr>
          <a:xfrm>
            <a:off x="4712700" y="5458700"/>
            <a:ext cx="3094800" cy="112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Adopting Agile Methodology enabling iterative, </a:t>
            </a:r>
            <a:r>
              <a:rPr lang="en-US" sz="1300">
                <a:solidFill>
                  <a:schemeClr val="dk1"/>
                </a:solidFill>
              </a:rPr>
              <a:t>continuous and flexible </a:t>
            </a:r>
            <a:r>
              <a:rPr lang="en-US" sz="1300">
                <a:solidFill>
                  <a:schemeClr val="dk1"/>
                </a:solidFill>
              </a:rPr>
              <a:t>for evolving project requirements.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55" name="Google Shape;155;g38468b37e79_0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150" y="1868625"/>
            <a:ext cx="4280050" cy="475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8468b37e79_0_37"/>
          <p:cNvSpPr txBox="1"/>
          <p:nvPr/>
        </p:nvSpPr>
        <p:spPr>
          <a:xfrm>
            <a:off x="7873300" y="13454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UI/UX Design :</a:t>
            </a:r>
            <a:endParaRPr/>
          </a:p>
        </p:txBody>
      </p:sp>
      <p:pic>
        <p:nvPicPr>
          <p:cNvPr id="157" name="Google Shape;157;g38468b37e79_0_37" title="Screenshot 2025-09-29 222425.png"/>
          <p:cNvPicPr preferRelativeResize="0"/>
          <p:nvPr/>
        </p:nvPicPr>
        <p:blipFill rotWithShape="1">
          <a:blip r:embed="rId6">
            <a:alphaModFix/>
          </a:blip>
          <a:srcRect b="0" l="22518" r="24057" t="0"/>
          <a:stretch/>
        </p:blipFill>
        <p:spPr>
          <a:xfrm>
            <a:off x="7873300" y="1868625"/>
            <a:ext cx="1968077" cy="15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8468b37e79_0_37" title="Screenshot 2025-09-29 222433.png"/>
          <p:cNvPicPr preferRelativeResize="0"/>
          <p:nvPr/>
        </p:nvPicPr>
        <p:blipFill rotWithShape="1">
          <a:blip r:embed="rId7">
            <a:alphaModFix/>
          </a:blip>
          <a:srcRect b="0" l="25320" r="26377" t="0"/>
          <a:stretch/>
        </p:blipFill>
        <p:spPr>
          <a:xfrm>
            <a:off x="9902025" y="1868625"/>
            <a:ext cx="1968077" cy="15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8468b37e79_0_37" title="Screenshot 2025-09-29 223142.png"/>
          <p:cNvPicPr preferRelativeResize="0"/>
          <p:nvPr/>
        </p:nvPicPr>
        <p:blipFill rotWithShape="1">
          <a:blip r:embed="rId8">
            <a:alphaModFix/>
          </a:blip>
          <a:srcRect b="13793" l="30181" r="32086" t="0"/>
          <a:stretch/>
        </p:blipFill>
        <p:spPr>
          <a:xfrm>
            <a:off x="7873300" y="3461075"/>
            <a:ext cx="1968077" cy="15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8468b37e79_0_37" title="Screenshot 2025-09-29 223152.png"/>
          <p:cNvPicPr preferRelativeResize="0"/>
          <p:nvPr/>
        </p:nvPicPr>
        <p:blipFill rotWithShape="1">
          <a:blip r:embed="rId9">
            <a:alphaModFix/>
          </a:blip>
          <a:srcRect b="17046" l="28986" r="29040" t="0"/>
          <a:stretch/>
        </p:blipFill>
        <p:spPr>
          <a:xfrm>
            <a:off x="9902025" y="3461075"/>
            <a:ext cx="1968077" cy="154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8468b37e79_0_37" title="Screenshot 2025-09-29 222557.png"/>
          <p:cNvPicPr preferRelativeResize="0"/>
          <p:nvPr/>
        </p:nvPicPr>
        <p:blipFill rotWithShape="1">
          <a:blip r:embed="rId10">
            <a:alphaModFix/>
          </a:blip>
          <a:srcRect b="0" l="20609" r="26011" t="0"/>
          <a:stretch/>
        </p:blipFill>
        <p:spPr>
          <a:xfrm>
            <a:off x="7873300" y="5053525"/>
            <a:ext cx="1968077" cy="154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609600" y="-84503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68" name="Google Shape;168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169" name="Google Shape;1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 txBox="1"/>
          <p:nvPr/>
        </p:nvSpPr>
        <p:spPr>
          <a:xfrm>
            <a:off x="454700" y="2828925"/>
            <a:ext cx="3269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4025" lvl="0" marL="5429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4312325" y="2600325"/>
            <a:ext cx="3269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4025" lvl="0" marL="5429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8312825" y="2828925"/>
            <a:ext cx="32695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4025" lvl="0" marL="54292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52400" y="99088"/>
            <a:ext cx="1796400" cy="103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CORAL CODERS</a:t>
            </a:r>
            <a:endParaRPr b="1"/>
          </a:p>
        </p:txBody>
      </p:sp>
      <p:pic>
        <p:nvPicPr>
          <p:cNvPr id="174" name="Google Shape;174;p4" title="c_n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963" y="1751846"/>
            <a:ext cx="11898075" cy="461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"/>
          <p:cNvPicPr preferRelativeResize="0"/>
          <p:nvPr/>
        </p:nvPicPr>
        <p:blipFill rotWithShape="1">
          <a:blip r:embed="rId5">
            <a:alphaModFix/>
          </a:blip>
          <a:srcRect b="29205" l="19545" r="19812" t="28857"/>
          <a:stretch/>
        </p:blipFill>
        <p:spPr>
          <a:xfrm>
            <a:off x="603425" y="1780675"/>
            <a:ext cx="10985150" cy="455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0f8c4f1ed_1_10"/>
          <p:cNvSpPr txBox="1"/>
          <p:nvPr>
            <p:ph type="title"/>
          </p:nvPr>
        </p:nvSpPr>
        <p:spPr>
          <a:xfrm>
            <a:off x="609600" y="470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82" name="Google Shape;182;g380f8c4f1ed_1_1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183" name="Google Shape;183;g380f8c4f1ed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80f8c4f1ed_1_10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19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B192E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80f8c4f1ed_1_10"/>
          <p:cNvSpPr/>
          <p:nvPr/>
        </p:nvSpPr>
        <p:spPr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192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B192E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80f8c4f1ed_1_10"/>
          <p:cNvSpPr/>
          <p:nvPr/>
        </p:nvSpPr>
        <p:spPr>
          <a:xfrm>
            <a:off x="152391" y="99088"/>
            <a:ext cx="1796400" cy="103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CORAL CODERS</a:t>
            </a:r>
            <a:endParaRPr b="1"/>
          </a:p>
        </p:txBody>
      </p:sp>
      <p:pic>
        <p:nvPicPr>
          <p:cNvPr id="187" name="Google Shape;187;g380f8c4f1ed_1_10" title="Environmental – Promotes conservation and protection of marine biodiversity and ecosystems. Economic – Supports sustainable fisheries management, securing the livelihoods of millions in the fishin.png"/>
          <p:cNvPicPr preferRelativeResize="0"/>
          <p:nvPr/>
        </p:nvPicPr>
        <p:blipFill rotWithShape="1">
          <a:blip r:embed="rId4">
            <a:alphaModFix/>
          </a:blip>
          <a:srcRect b="29968" l="25145" r="26105" t="31256"/>
          <a:stretch/>
        </p:blipFill>
        <p:spPr>
          <a:xfrm>
            <a:off x="589756" y="1179975"/>
            <a:ext cx="10972800" cy="502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454700" y="1506150"/>
            <a:ext cx="11250600" cy="4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lang="en-US" sz="1800" u="sng">
                <a:solidFill>
                  <a:schemeClr val="hlink"/>
                </a:solidFill>
                <a:hlinkClick r:id="rId3"/>
              </a:rPr>
              <a:t>https://www.cmlre.gov.in/</a:t>
            </a:r>
            <a:r>
              <a:rPr lang="en-US" sz="1800"/>
              <a:t> - Center of Marine Living Resources and Ecology.</a:t>
            </a:r>
            <a:endParaRPr sz="1800"/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https://indobis.in/</a:t>
            </a:r>
            <a:r>
              <a:rPr lang="en-US" sz="1800">
                <a:solidFill>
                  <a:srgbClr val="212529"/>
                </a:solidFill>
              </a:rPr>
              <a:t> - data about otolith, microbial, taxonomy catalogue, macro fauna, specimens.</a:t>
            </a:r>
            <a:endParaRPr sz="1800">
              <a:solidFill>
                <a:srgbClr val="212529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Font typeface="Noto Sans Symbols"/>
              <a:buChar char="❑"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https://www.ncbi.nlm.nih.gov/sra/?term=eDNA</a:t>
            </a:r>
            <a:r>
              <a:rPr lang="en-US" sz="1800">
                <a:solidFill>
                  <a:srgbClr val="212529"/>
                </a:solidFill>
              </a:rPr>
              <a:t> eDNA Data.</a:t>
            </a:r>
            <a:endParaRPr sz="1800">
              <a:solidFill>
                <a:srgbClr val="212529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rgbClr val="212529"/>
                </a:solidFill>
              </a:rPr>
              <a:t>Copernicus website - </a:t>
            </a:r>
            <a:r>
              <a:rPr lang="en-US" sz="1800" u="sng">
                <a:solidFill>
                  <a:schemeClr val="hlink"/>
                </a:solidFill>
                <a:hlinkClick r:id="rId6"/>
              </a:rPr>
              <a:t>https://cds.climate.copernicus.eu/datasets</a:t>
            </a:r>
            <a:r>
              <a:rPr lang="en-US" sz="1800">
                <a:solidFill>
                  <a:srgbClr val="212529"/>
                </a:solidFill>
              </a:rPr>
              <a:t> </a:t>
            </a:r>
            <a:endParaRPr sz="1800">
              <a:solidFill>
                <a:srgbClr val="212529"/>
              </a:solidFill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Noto Sans Symbols"/>
              <a:buChar char="❑"/>
            </a:pPr>
            <a:r>
              <a:rPr lang="en-US" sz="1800">
                <a:solidFill>
                  <a:srgbClr val="212529"/>
                </a:solidFill>
              </a:rPr>
              <a:t>Darwin Core - </a:t>
            </a:r>
            <a:r>
              <a:rPr lang="en-US" sz="1800" u="sng">
                <a:solidFill>
                  <a:schemeClr val="hlink"/>
                </a:solidFill>
                <a:hlinkClick r:id="rId7"/>
              </a:rPr>
              <a:t>https://github.com/tdwg/dwc</a:t>
            </a:r>
            <a:r>
              <a:rPr lang="en-US" sz="1800">
                <a:solidFill>
                  <a:srgbClr val="212529"/>
                </a:solidFill>
              </a:rPr>
              <a:t> , </a:t>
            </a:r>
            <a:r>
              <a:rPr lang="en-US" sz="1800" u="sng">
                <a:solidFill>
                  <a:schemeClr val="hlink"/>
                </a:solidFill>
                <a:hlinkClick r:id="rId8"/>
              </a:rPr>
              <a:t>https://dwc.tdwg.org/</a:t>
            </a:r>
            <a:r>
              <a:rPr lang="en-US" sz="2000">
                <a:solidFill>
                  <a:srgbClr val="212529"/>
                </a:solidFill>
              </a:rPr>
              <a:t> </a:t>
            </a:r>
            <a:endParaRPr sz="2000">
              <a:solidFill>
                <a:srgbClr val="212529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rgbClr val="212529"/>
                </a:solidFill>
              </a:rPr>
              <a:t>ISO 19115 - </a:t>
            </a:r>
            <a:r>
              <a:rPr lang="en-US" sz="1800" u="sng">
                <a:solidFill>
                  <a:schemeClr val="hlink"/>
                </a:solidFill>
                <a:hlinkClick r:id="rId9"/>
              </a:rPr>
              <a:t>https://www.iso.org/standards.html</a:t>
            </a:r>
            <a:r>
              <a:rPr lang="en-US" sz="1800">
                <a:solidFill>
                  <a:srgbClr val="212529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2857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G. V. M. Gupta, G. A. Ramadass, and R. R. Nair, "Marine living resources - a blue future,"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Science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vol. 110, no. 1, pp. 10–13, Jan. 2016.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K. S. S. Kumar, M. M. R. Al-Jufaili, and A. H. Al-Salmi, "Relationships between fish and otolith size of nine deep-sea fishes from the Andaman and Nicobar waters, North Indian Ocean,"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J. Mar. Biol. Assoc. U.K.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vol. 92, no. 5, pp. 1157–1163, 2012.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R. C. Kappel, K. S. Kumar, and M. R. A. Sahoo, "Using eDNA sampling for species-specific fish detection in tropical oceanic samples and its implication for fisheries management,"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PeerJ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vol. 3, p. e1390, 2015.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3492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 Sahu, M. Singh, S. Kumar, and U. K. Sarkar, "Environmental DNA (eDNA): an eco-friendly approach for conservation of Indian freshwater diversity—a review," </a:t>
            </a:r>
            <a:r>
              <a:rPr b="0" i="1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Environ. Sci. Pollut. Res.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vol. 32, no. 15, pp. 9333–9360, 2025.</a:t>
            </a:r>
            <a:endParaRPr b="0" i="0" sz="1800" u="none" cap="none" strike="noStrike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6" name="Google Shape;196;p6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descr="https://www.sih.gov.in/img1/SIH-Logo.png" id="197" name="Google Shape;19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/>
          <p:nvPr/>
        </p:nvSpPr>
        <p:spPr>
          <a:xfrm>
            <a:off x="152400" y="99088"/>
            <a:ext cx="1796400" cy="10389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THE CORAL CODERS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